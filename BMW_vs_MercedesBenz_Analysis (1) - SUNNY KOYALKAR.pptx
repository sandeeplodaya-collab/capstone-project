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F22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1F22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E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SECTOR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 Financial Analysis of BMW and Mercedes-Benz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financial performance and business strategy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1C69D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/home/claude/bmw_deck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5039441"/>
            <a:ext cx="272125" cy="2721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54480" y="4892040"/>
            <a:ext cx="566928" cy="566928"/>
          </a:xfrm>
          <a:prstGeom prst="ellipse">
            <a:avLst/>
          </a:prstGeom>
          <a:solidFill>
            <a:srgbClr val="3E4C59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/home/claude/bmw_deck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81" y="50394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Koyalkar Purushotham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BMW Group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52560" y="502920"/>
            <a:ext cx="2514600" cy="2514600"/>
          </a:xfrm>
          <a:prstGeom prst="roundRect">
            <a:avLst>
              <a:gd name="adj" fmla="val 6545"/>
            </a:avLst>
          </a:prstGeom>
          <a:solidFill>
            <a:srgbClr val="E4EEFC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1188720"/>
            <a:ext cx="914400" cy="914400"/>
          </a:xfrm>
          <a:prstGeom prst="ellipse">
            <a:avLst/>
          </a:prstGeom>
          <a:solidFill>
            <a:srgbClr val="1C69D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bmw_deck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4" y="142646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956816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3240" y="18745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432304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3500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63240" y="235000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Munich, Germany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907792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8254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63240" y="2825496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Zipse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3383280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3009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Brands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063240" y="33009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BMW, MINI, Rolls-Royce, BMW Motorrad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3858768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7764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63240" y="377647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150,000+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" y="4334256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251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063240" y="4251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countries, 30+ production facilities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" y="4809744"/>
            <a:ext cx="82296" cy="82296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47274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63240" y="47274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vehicles, electric mobility, motorcycles, financial services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4009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4EE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34009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 </a:t>
            </a:r>
            <a:pPr algn="l" indent="0" marL="0">
              <a:buNone/>
            </a:pPr>
            <a:r>
              <a:rPr lang="en-US" sz="1350" i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vision is to be the world's leading provider of premium mobility.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Group — Company Profile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Mercedes-Benz Group 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52560" y="502920"/>
            <a:ext cx="2514600" cy="2514600"/>
          </a:xfrm>
          <a:prstGeom prst="roundRect">
            <a:avLst>
              <a:gd name="adj" fmla="val 6545"/>
            </a:avLst>
          </a:prstGeom>
          <a:solidFill>
            <a:srgbClr val="E7E9EC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1188720"/>
            <a:ext cx="914400" cy="914400"/>
          </a:xfrm>
          <a:prstGeom prst="ellipse">
            <a:avLst/>
          </a:prstGeom>
          <a:solidFill>
            <a:srgbClr val="3E4C59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bmw_deck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4" y="142646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956816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3240" y="18745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432304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3500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63240" y="235000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Stuttgart, Germany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907792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8254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63240" y="2825496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Källenius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3383280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3009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Brands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063240" y="33009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Mercedes-Benz, AMG, Maybach, Vans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3858768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7764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63240" y="377647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170,000+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" y="4334256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251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063240" y="4251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countries, manufacturing worldwide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" y="4809744"/>
            <a:ext cx="82296" cy="82296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47274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63240" y="47274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&amp; electric vehicles, commercial vans, mobility services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4009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7E9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34009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 </a:t>
            </a:r>
            <a:pPr algn="l" indent="0" marL="0">
              <a:buNone/>
            </a:pPr>
            <a:r>
              <a:rPr lang="en-US" sz="1350" i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 luxury mobility through sustainable innovation.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Group AG — Company Profile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E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 of the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F22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C69D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bmw_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002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   </a:t>
            </a:r>
            <a:pPr algn="l" indent="0" marL="0">
              <a:buNone/>
            </a:pPr>
            <a:r>
              <a:rPr lang="en-US" sz="1400" dirty="0">
                <a:solidFill>
                  <a:srgbClr val="AE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BMW and Mercedes-Benz based on financial performance and business strategy.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008376"/>
            <a:ext cx="274320" cy="27432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34440" y="283464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liquidity position.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283464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3008376"/>
            <a:ext cx="274320" cy="27432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283464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profitability.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3785616"/>
            <a:ext cx="274320" cy="27432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34440" y="361188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capital structure.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61188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21" name="Shape 18"/>
          <p:cNvSpPr/>
          <p:nvPr/>
        </p:nvSpPr>
        <p:spPr>
          <a:xfrm>
            <a:off x="6446520" y="3785616"/>
            <a:ext cx="274320" cy="27432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0" y="361188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business models.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" y="438912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25" name="Shape 22"/>
          <p:cNvSpPr/>
          <p:nvPr/>
        </p:nvSpPr>
        <p:spPr>
          <a:xfrm>
            <a:off x="822960" y="4562856"/>
            <a:ext cx="274320" cy="27432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562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234440" y="438912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growth.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63640" y="438912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29" name="Shape 26"/>
          <p:cNvSpPr/>
          <p:nvPr/>
        </p:nvSpPr>
        <p:spPr>
          <a:xfrm>
            <a:off x="6446520" y="4562856"/>
            <a:ext cx="274320" cy="27432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4562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0" y="438912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 and weaknesses.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0080" y="516636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1F2242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" y="5340096"/>
            <a:ext cx="274320" cy="274320"/>
          </a:xfrm>
          <a:prstGeom prst="ellipse">
            <a:avLst/>
          </a:prstGeom>
          <a:solidFill>
            <a:srgbClr val="1C69D4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5340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234440" y="516636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better-performing company.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Comparison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30936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9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Mercedes-Benz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C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€142 Billion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€146 Billion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Vehicles Sold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 Million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 Million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554480"/>
            <a:ext cx="43434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7190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3794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 generated slightly higher revenue.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sold more vehicles.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has stronger global market penetration.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 earns higher revenue per vehicle.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206240"/>
            <a:ext cx="10927080" cy="1828800"/>
          </a:xfrm>
          <a:prstGeom prst="roundRect">
            <a:avLst>
              <a:gd name="adj" fmla="val 6000"/>
            </a:avLst>
          </a:prstGeom>
          <a:solidFill>
            <a:srgbClr val="14162B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1C69D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/home/claude/bmw_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6469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448056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159,000 vs 175,000 employees   </a:t>
            </a:r>
            <a:pPr algn="l" indent="0" marL="0">
              <a:buNone/>
            </a:pPr>
            <a:r>
              <a:rPr lang="en-US" sz="1300" dirty="0">
                <a:solidFill>
                  <a:srgbClr val="AE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Mercedes-Benz operates a larger workforce, while BMW achieves higher vehicle output per employee.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Comparison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Liquidity Ratio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mw_deck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148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434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1.12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0010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1.15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bmw_deck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1025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926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1148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17" name="Text 13"/>
          <p:cNvSpPr/>
          <p:nvPr/>
        </p:nvSpPr>
        <p:spPr>
          <a:xfrm>
            <a:off x="43434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3434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0.92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80010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0.95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640080" y="4297680"/>
            <a:ext cx="10927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" y="446227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14400" y="484632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companies maintain healthy liquidity.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 has a slightly stronger short-term financial position.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easily meet short-term liabilities.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Ratio Comparison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Cash Ratio &amp; Basic Defense Interval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RATIO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bmw_deck/icons/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20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Ratio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114800" y="19202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34340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0.23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001000" y="19202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0.27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40080" y="310896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27355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3657600"/>
            <a:ext cx="10378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has €0.23 in cash and cash equivalents for every €1 of current liabilities.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has €0.27, indicating a slightly stronger immediate liquidity position.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DEFENSE INTERVAL RATIO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9" name="Image 1" descr="/home/claude/bmw_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47941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25880" y="46177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Covered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4114800" y="46177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22" name="Text 18"/>
          <p:cNvSpPr/>
          <p:nvPr/>
        </p:nvSpPr>
        <p:spPr>
          <a:xfrm>
            <a:off x="434340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343400" y="5029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58 days</a:t>
            </a:r>
            <a:endParaRPr lang="en-US" sz="3000" dirty="0"/>
          </a:p>
        </p:txBody>
      </p:sp>
      <p:sp>
        <p:nvSpPr>
          <p:cNvPr id="24" name="Shape 20"/>
          <p:cNvSpPr/>
          <p:nvPr/>
        </p:nvSpPr>
        <p:spPr>
          <a:xfrm>
            <a:off x="8001000" y="46177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229600" y="5029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65 days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Ratio &amp; Basic Defense Interval Ratio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 Working Capital (NWC)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E4EE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Group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€17.5 Billion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E7E9EC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Group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€19.2 Billion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927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9359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10378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working capital indicates BMW has sufficient current assets to meet its short-term liabilities.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has a slightly stronger working capital position, reflecting better short-term liquidity.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 Comparison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/ LONG-TERM SOLVENCY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Capital Structure Ratios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mw_deck/icons/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Ratio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148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434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24.5%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0010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27.8%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bmw_deck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1025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926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Ratio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1148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17" name="Text 13"/>
          <p:cNvSpPr/>
          <p:nvPr/>
        </p:nvSpPr>
        <p:spPr>
          <a:xfrm>
            <a:off x="43434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3434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75.5%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80010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72.2%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640080" y="4297680"/>
            <a:ext cx="10927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" y="446227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14400" y="484632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has a higher Equity Ratio, indicating a stronger equity base and lower financial risk.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has a lower Debt Ratio, indicating a stronger financial position and lower dependence on debt.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BMW's higher Debt Ratio is still common in the capital-intensive automotive industry.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Ratios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/ LONG-TERM SOLVENCY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Coverage Ratios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mw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002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Coverage (DSCR)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14800" y="16002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4340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5.8x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001000" y="16002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6.5x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bmw_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9653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788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(ICR)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1148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17" name="Text 13"/>
          <p:cNvSpPr/>
          <p:nvPr/>
        </p:nvSpPr>
        <p:spPr>
          <a:xfrm>
            <a:off x="434340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34340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14.8x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80010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18.5x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/home/claude/bmw_deck/icons/handco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15411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9776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Dividend Coverage (EDCR)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411480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26" name="Text 21"/>
          <p:cNvSpPr/>
          <p:nvPr/>
        </p:nvSpPr>
        <p:spPr>
          <a:xfrm>
            <a:off x="434340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3434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3.6x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800100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2296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4.1x</a:t>
            </a:r>
            <a:endParaRPr lang="en-US" sz="3000" dirty="0"/>
          </a:p>
        </p:txBody>
      </p:sp>
      <p:sp>
        <p:nvSpPr>
          <p:cNvPr id="31" name="Shape 26"/>
          <p:cNvSpPr/>
          <p:nvPr/>
        </p:nvSpPr>
        <p:spPr>
          <a:xfrm>
            <a:off x="640080" y="5212080"/>
            <a:ext cx="10927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14400" y="537667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914400" y="576072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leads on all three coverage measures, reflecting stronger debt-servicing and dividend-paying capacity — though both companies comfortably exceed standard benchmarks.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Ratios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Turnover Ratios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mw_deck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 Turnover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148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434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0.91x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0010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0.88x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bmw_deck/icons/ware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1025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926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 Turnover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1148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17" name="Text 13"/>
          <p:cNvSpPr/>
          <p:nvPr/>
        </p:nvSpPr>
        <p:spPr>
          <a:xfrm>
            <a:off x="43434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3434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3.15x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80010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2.95x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640080" y="4297680"/>
            <a:ext cx="10927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" y="446227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14400" y="484632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has a higher Total Asset Turnover, using its assets more efficiently to generate sales.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also leads on Fixed Asset Turnover, reflecting efficient use of property, plant, and equipment.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Mercedes-Benz's slightly lower ratios reflect its focus on premium manufacturing, luxury production, and R&amp;D.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Ratios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Profitability Ratios (Related to Sales)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mw_deck/icons/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Ratio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148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434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19.8%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001000" y="1691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21.6%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bmw_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1025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926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Ratio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1148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17" name="Text 13"/>
          <p:cNvSpPr/>
          <p:nvPr/>
        </p:nvSpPr>
        <p:spPr>
          <a:xfrm>
            <a:off x="43434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3434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11.4%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8001000" y="292608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13.2%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640080" y="4297680"/>
            <a:ext cx="10927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" y="446227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14400" y="484632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has a higher Gross Profit Ratio, indicating better control over production costs.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also leads on Operating Profit Ratio, showing stronger operational efficiency.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maintains healthy margins overall, though slightly lower than Mercedes-Benz.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Ratios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Valuation Ratios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mw_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002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Price-Earnings (P/E)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114800" y="16002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4340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7.8x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001000" y="160020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8.9x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bmw_deck/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9653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788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Price-to-Sales (P/S)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1148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17" name="Text 13"/>
          <p:cNvSpPr/>
          <p:nvPr/>
        </p:nvSpPr>
        <p:spPr>
          <a:xfrm>
            <a:off x="434340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34340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0.42x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80010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22960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0.50x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6B6B7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/home/claude/bmw_deck/icons/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15411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9776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EBITDA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411480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4EEFC"/>
          </a:solidFill>
          <a:ln/>
        </p:spPr>
      </p:sp>
      <p:sp>
        <p:nvSpPr>
          <p:cNvPr id="26" name="Text 21"/>
          <p:cNvSpPr/>
          <p:nvPr/>
        </p:nvSpPr>
        <p:spPr>
          <a:xfrm>
            <a:off x="434340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6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3434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4.8x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8001000" y="39776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7E9EC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2296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5.5x</a:t>
            </a:r>
            <a:endParaRPr lang="en-US" sz="3000" dirty="0"/>
          </a:p>
        </p:txBody>
      </p:sp>
      <p:sp>
        <p:nvSpPr>
          <p:cNvPr id="31" name="Shape 26"/>
          <p:cNvSpPr/>
          <p:nvPr/>
        </p:nvSpPr>
        <p:spPr>
          <a:xfrm>
            <a:off x="640080" y="5212080"/>
            <a:ext cx="10927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14400" y="5376672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914400" y="576072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commands higher valuation multiples across the board, reflecting stronger market confidence — while BMW's lower multiples suggest a more conservatively valued stock.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Ratios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36" y="1051560"/>
            <a:ext cx="4754880" cy="4754880"/>
          </a:xfrm>
          <a:prstGeom prst="ellipse">
            <a:avLst/>
          </a:prstGeom>
          <a:ln w="19050">
            <a:solidFill>
              <a:srgbClr val="3A3D5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991356" y="1325880"/>
            <a:ext cx="4206240" cy="4206240"/>
          </a:xfrm>
          <a:prstGeom prst="ellipse">
            <a:avLst/>
          </a:prstGeom>
          <a:ln w="12700">
            <a:solidFill>
              <a:srgbClr val="2A2D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34156" y="3017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271516" y="3931920"/>
            <a:ext cx="1645920" cy="0"/>
          </a:xfrm>
          <a:prstGeom prst="line">
            <a:avLst/>
          </a:prstGeom>
          <a:noFill/>
          <a:ln w="25400">
            <a:solidFill>
              <a:srgbClr val="1C69D4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